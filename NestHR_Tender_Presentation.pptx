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647fd61-6cd0-ee00-4ef0-a8120a867f87}">
          <p14:sldIdLst>
            <p14:sldId id="256"/>
          </p14:sldIdLst>
        </p14:section>
        <p14:section name="Default-1" id="{c8275573-43c1-cbc9-6d43-975626bd96ba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Scale" id="{48359ace-f556-874b-1450-3dad74042f61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Contact" id="{7e5c05b4-9cde-9af3-3258-7ca03a05ee92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024B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Employees page (50)</c:v>
                  </c:pt>
                  <c:pt idx="1">
                    <c:v>Employee search</c:v>
                  </c:pt>
                  <c:pt idx="2">
                    <c:v>Dashboard (cached)</c:v>
                  </c:pt>
                  <c:pt idx="3">
                    <c:v>Dashboard (cold)</c:v>
                  </c:pt>
                  <c:pt idx="4">
                    <c:v>Month summary</c:v>
                  </c:pt>
                  <c:pt idx="5">
                    <c:v>One day, 1,881 rows</c:v>
                  </c:pt>
                  <c:pt idx="6">
                    <c:v>Performance overview</c:v>
                  </c:pt>
                  <c:pt idx="7">
                    <c:v>All 2,000 employees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</c:v>
                </c:pt>
                <c:pt idx="1">
                  <c:v>28</c:v>
                </c:pt>
                <c:pt idx="2">
                  <c:v>4</c:v>
                </c:pt>
                <c:pt idx="3">
                  <c:v>562</c:v>
                </c:pt>
                <c:pt idx="4">
                  <c:v>175</c:v>
                </c:pt>
                <c:pt idx="5">
                  <c:v>188</c:v>
                </c:pt>
                <c:pt idx="6">
                  <c:v>355</c:v>
                </c:pt>
                <c:pt idx="7">
                  <c:v>319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+mn-lt"/>
                  </a:rPr>
                  <a:t>milliseconds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+mn-lt"/>
              </a:rPr>
              <a:t>Throughput (requests/s)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 per second</c:v>
                </c:pt>
              </c:strCache>
            </c:strRef>
          </c:tx>
          <c:spPr>
            <a:solidFill>
              <a:srgbClr val="024B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4B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A731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 worker</c:v>
                  </c:pt>
                  <c:pt idx="1">
                    <c:v>4 workers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+mn-lt"/>
              </a:rPr>
              <a:t>Median response (seconds)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response (s)</c:v>
                </c:pt>
              </c:strCache>
            </c:strRef>
          </c:tx>
          <c:spPr>
            <a:solidFill>
              <a:srgbClr val="024B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4B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A731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 worker</c:v>
                  </c:pt>
                  <c:pt idx="1">
                    <c:v>4 workers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3.3</c:v>
                </c:pt>
                <c:pt idx="1">
                  <c:v>0.88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NestHR by Pixelate Nest: one platform for employees, attendance (including biometric devices), leave, payroll and performance. This deck shows the real product and then proves how it behaves at 2,000 employees.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slide. All figures were measured on a test copy with 2,000 employees and about 112,000 attendance records (60 days). Details and test conditions are in the scalability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modules quickly; each one has its own slide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what HR opens first. Counts are computed in one pass and cached for 30 seconds, so many HR users can keep it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page loads 50 at a time in about 27 ms, search in 28 ms. Loading all 2,000 at once takes about 0.3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Bulk import is limited to 200 rows per upload for safety; for the initial 2,000 we load data in batches or via a one-time migration which we handle.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attendance screen loads one day at a time, so it stays fast regardless of company size: 1,881 rows in 0.19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balances for all 2,000 take about 0.7 s; the very first call of a month takes about 3 s because balances are created.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Holidays feed the attendance and payroll calculations so nobody is marked absent on a holiday.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configured once and applied to all employees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 approvals keep payroll deductions fair and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Payroll for 1,881 employees ran in about 2.0 seconds in the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overview for 1,952 staff returns in about 0.36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Loans link directly to payroll so EMIs are never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Lightweight task tracking and broadcast announcements.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Biometric terminals push punches to the server (ADMS). Punches are matched to employees and become attendance automatically. Device logs show every communication for troubleshooting.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basics for HR data: encryption at rest for documents, OTP and 2FA login, login lock after repeated failures, audit trail and role-based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responsive web screens at phone width. A native NestHR mobile app (React Native) is also available for employees.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part the tender cares about most: what happens when the company has 2,000 employees.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transparent: this is a lab test on a local machine. Real servers add network latency but also have dedicated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deliberately looked for weak spots and fixed them in the product before this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Clients and devices talk to a clustered Node.js API. MongoDB holds data with indexes on the hot paths. Documents are encrypted. WhatsApp and push notifications are sent asynchronously.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morning rush: 2,000 people punch within about 10 minutes, roughly 3 punches per second. The system ingests 155 per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Milliseconds, lower is better. Employee list of 50 is 27 ms. Dashboard cold is 562 ms and 4 ms when cached.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Payroll processed 1,881 active employees in about 2 seconds, including attendance, leave, loans and deductions.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simulated users hammering heavy screens at the same time. One worker: 17 req/s, p50 3.3 s. Four workers: 49 req/s, p50 0.88 s, p95 2.4 s. Zero errors in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 is about 182 bytes per record plus index. 2,000 employees produce roughly 680k records a year, around 160 MB with indexes. Payroll about 19 MB a year. About 0.9 GB over five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 timeline; adjust per the tender.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offer a live demo and a pilot with a subset of employees.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NestHR  ·  Pixelate Nest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jp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projects/Pixelate Nest/hrms/frontend/assets/nesth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194560" cy="79606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attendance &amp; payroll for 2,000+ employees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Product presentation for tender submission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3474720"/>
            <a:ext cx="2377440" cy="411480"/>
          </a:xfrm>
          <a:prstGeom prst="rect">
            <a:avLst/>
          </a:prstGeom>
          <a:solidFill>
            <a:srgbClr val="FA731C"/>
          </a:solidFill>
          <a:ln w="12700">
            <a:solidFill>
              <a:srgbClr val="FA731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Pixelate Nest</a:t>
            </a:r>
            <a:endParaRPr lang="en-US" sz="1600" dirty="0"/>
          </a:p>
        </p:txBody>
      </p:sp>
      <p:pic>
        <p:nvPicPr>
          <p:cNvPr id="7" name="Image 1" descr="img/dashboar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0" y="2743200"/>
            <a:ext cx="329184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at 2,000 employees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21208" y="1252728"/>
            <a:ext cx="187452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984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4BAB"/>
                </a:solidFill>
              </a:rPr>
              <a:t>2,000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employees loaded and tested end to end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78608" y="1252728"/>
            <a:ext cx="187452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14600" y="118872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14600" y="12984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A731C"/>
                </a:solidFill>
              </a:rPr>
              <a:t>2.0 s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to run payroll for 1,881 employees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36008" y="1252728"/>
            <a:ext cx="187452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18872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2984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4BAB"/>
                </a:solidFill>
              </a:rPr>
              <a:t>0.19 s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to load one day's attendance for 1,881 staff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93408" y="1252728"/>
            <a:ext cx="187452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29400" y="118872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12984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48C"/>
                </a:solidFill>
              </a:rPr>
              <a:t>155/s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biometric punches ingested (peak need is about 3/s)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search, pages and dashboards answer in well under a second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people using heavy screens at the same time: no errors, 49 requests/second on a 4-worker server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 2,000 employees: about 160 MB of attendance data per year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Measured on a single local test machine; production adds only network latency.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every HR workflow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435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49908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280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Employees &amp; onboarding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0" y="1188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697480" y="1435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80" y="15499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246120" y="1280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Attendance &amp; shifts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663440" y="1188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800600" y="1435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549908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49240" y="1280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Biometric devices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766560" y="1188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903720" y="1435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1549908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52360" y="1280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Leave &amp; holidays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57200" y="2331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594360" y="2578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2692908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43000" y="2423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Payroll &amp; loans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2560320" y="2331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2697480" y="2578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1780" y="2692908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246120" y="2423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4663440" y="2331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4800600" y="2578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2692908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349240" y="2423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Documents vault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6766560" y="2331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6903720" y="2578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2692908"/>
            <a:ext cx="228600" cy="22860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7452360" y="2423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Tasks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457200" y="3474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594360" y="3721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" y="3835908"/>
            <a:ext cx="228600" cy="22860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143000" y="3566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Announcements</a:t>
            </a:r>
            <a:endParaRPr lang="en-US" sz="1300" dirty="0"/>
          </a:p>
        </p:txBody>
      </p:sp>
      <p:sp>
        <p:nvSpPr>
          <p:cNvPr id="40" name="Shape 28"/>
          <p:cNvSpPr/>
          <p:nvPr/>
        </p:nvSpPr>
        <p:spPr>
          <a:xfrm>
            <a:off x="2560320" y="3474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2697480" y="3721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1780" y="3835908"/>
            <a:ext cx="228600" cy="22860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3246120" y="3566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Departments &amp; roles</a:t>
            </a:r>
            <a:endParaRPr lang="en-US" sz="1300" dirty="0"/>
          </a:p>
        </p:txBody>
      </p:sp>
      <p:sp>
        <p:nvSpPr>
          <p:cNvPr id="44" name="Shape 31"/>
          <p:cNvSpPr/>
          <p:nvPr/>
        </p:nvSpPr>
        <p:spPr>
          <a:xfrm>
            <a:off x="4663440" y="3474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4800600" y="3721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4900" y="3835908"/>
            <a:ext cx="228600" cy="228600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5349240" y="3566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Security &amp; audit</a:t>
            </a:r>
            <a:endParaRPr lang="en-US" sz="1300" dirty="0"/>
          </a:p>
        </p:txBody>
      </p:sp>
      <p:sp>
        <p:nvSpPr>
          <p:cNvPr id="48" name="Shape 34"/>
          <p:cNvSpPr/>
          <p:nvPr/>
        </p:nvSpPr>
        <p:spPr>
          <a:xfrm>
            <a:off x="6766560" y="3474720"/>
            <a:ext cx="1920240" cy="96012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>
            <a:off x="6903720" y="3721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8020" y="3835908"/>
            <a:ext cx="228600" cy="228600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7452360" y="3566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Mobile access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present, late, absent and on-leave counts at a glance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attendance and payroll trends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for the whole company in under a second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directory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and paginate thousands of staff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designation, shift and status on one screen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with documents, bank and salary structure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employe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bulk import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employee with the full form, or import from Excel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duplicate checks before anything is saved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welcome message sent automatically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import-exc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One-day view with present, late, absent and leave counts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or correct attendance, bulk-mark absent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summary and per-day counts for any month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attenda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types, balances and approval workflow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created automatically each month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apply from web or mobile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lea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&amp; calendar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holiday calendar by year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automatically excluded from attendance and payroll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every employee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holiday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rules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timings, grace period and half-day rules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offs and late-mark policy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automatically to every punch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attendance-setting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Late-arrival approvals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approve or reject late marks with a reason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late allowance per employee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items flow into payroll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late-approva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payroll for the whole company in one click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leave, loans and deductions included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 and bank-ready summary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payro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reports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goals and review cycles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performance overview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reports for management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performa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&amp; advances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loan requests, approvals and EMI schedule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deducted automatically in payroll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balance always visible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loa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announcements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tasks with due dates and track completion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announcements to all staff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place, no separate tool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tas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device integration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/ face terminals push punches over the network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locations and devices per company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communication is logged for audit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1,952 punches ingested in 12.6 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img/biometric-log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documents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2103120" cy="86868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1435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549908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130759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Documents encrypted at rest (AES-256-GCM)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697480" y="1234440"/>
            <a:ext cx="2103120" cy="86868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807208" y="143560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508" y="15499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37560" y="130759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WhatsApp OTP and 2-factor login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57200" y="2286000"/>
            <a:ext cx="2103120" cy="86868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66928" y="248716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2601468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23591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Role-based access: admin, HR, manager, employee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2697480" y="2286000"/>
            <a:ext cx="2103120" cy="86868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2807208" y="248716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508" y="2601468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337560" y="23591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Audit log of who changed what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57200" y="3337560"/>
            <a:ext cx="2103120" cy="86868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566928" y="353872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3653028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97280" y="341071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3-strike login lock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2697480" y="3337560"/>
            <a:ext cx="2103120" cy="86868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2807208" y="3538728"/>
            <a:ext cx="457200" cy="457200"/>
          </a:xfrm>
          <a:prstGeom prst="ellipse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508" y="3653028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337560" y="341071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Company data isolated per tenant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5193792" y="1261872"/>
            <a:ext cx="3566160" cy="222885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9" name="Image 6" descr="img/document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1188720"/>
            <a:ext cx="3566160" cy="222885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5120640" y="1188720"/>
            <a:ext cx="3566160" cy="2228850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your phone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161288" y="1161288"/>
            <a:ext cx="169164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5" name="Image 0" descr="img/m-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097280"/>
            <a:ext cx="1691640" cy="3520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97280" y="1097280"/>
            <a:ext cx="1691640" cy="3520440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721608" y="1161288"/>
            <a:ext cx="169164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8" name="Image 1" descr="img/m-attendanc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0" y="1097280"/>
            <a:ext cx="1691640" cy="35204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657600" y="1097280"/>
            <a:ext cx="1691640" cy="3520440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281928" y="1161288"/>
            <a:ext cx="169164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1" name="Image 2" descr="img/m-leav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097280"/>
            <a:ext cx="1691640" cy="352044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217920" y="1097280"/>
            <a:ext cx="1691640" cy="3520440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Responsive web at 390 px width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NestHR handles 2,000 employees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Data, attendance and payroll: measured, not promised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company: 2,000 employees, 6 departments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112,409 attendance records over 60 days, plus leaves, loans, tasks and biometric logs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NestHR backend and the real web screens in Chrome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test database. No customer data was used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setup: one server process, local machine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394960" y="1280160"/>
            <a:ext cx="3291840" cy="2743200"/>
          </a:xfrm>
          <a:prstGeom prst="rect">
            <a:avLst/>
          </a:prstGeom>
          <a:solidFill>
            <a:srgbClr val="F3F6FC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0" y="141732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731C"/>
                </a:solidFill>
              </a:rPr>
              <a:t>Test caveats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Numbers are from a single process with an in-memory database on one machine. Production runs a 4-worker cluster against a dedicated MongoDB; expect network latency on top.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 found, and we fixed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91440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90472"/>
            <a:ext cx="310896" cy="310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51560" y="12801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Month-wide attendance load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Now one day at a time (0.19 s)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663440" y="1188720"/>
            <a:ext cx="4023360" cy="91440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90472"/>
            <a:ext cx="310896" cy="31089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257800" y="12801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List caps of 100 rows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Raised to 5,000 with paging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57200" y="2286000"/>
            <a:ext cx="4023360" cy="91440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87752"/>
            <a:ext cx="310896" cy="31089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51560" y="23774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Dashboard ran many queries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One aggregate + 30 s cache (562 ms, then 4 ms)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663440" y="2286000"/>
            <a:ext cx="4023360" cy="91440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587752"/>
            <a:ext cx="310896" cy="31089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257800" y="23774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Per-IP rate limit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Configurable for offices sharing one IP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57200" y="3383280"/>
            <a:ext cx="4023360" cy="91440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85032"/>
            <a:ext cx="310896" cy="31089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051560" y="34747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Single server process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PM2 cluster, 4 workers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663440" y="3383280"/>
            <a:ext cx="4023360" cy="914400"/>
          </a:xfrm>
          <a:prstGeom prst="rect">
            <a:avLst/>
          </a:prstGeom>
          <a:solidFill>
            <a:srgbClr val="F3F6FC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685032"/>
            <a:ext cx="310896" cy="310896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257800" y="34747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Slow attendance lookups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Covered database index added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built for scale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solidFill>
            <a:srgbClr val="024BAB"/>
          </a:solidFill>
          <a:ln w="19050">
            <a:solidFill>
              <a:srgbClr val="0F17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087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&amp; mobile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HR, managers, employees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2743200"/>
            <a:ext cx="2011680" cy="914400"/>
          </a:xfrm>
          <a:prstGeom prst="rect">
            <a:avLst/>
          </a:prstGeom>
          <a:solidFill>
            <a:srgbClr val="FA731C"/>
          </a:solidFill>
          <a:ln w="19050">
            <a:solidFill>
              <a:srgbClr val="0F172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8803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292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Biometric devices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ADMS push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3566160" y="2011680"/>
            <a:ext cx="2011680" cy="118872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14884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61188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Node.js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PM2 cluster · 4 workers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6675120" y="1371600"/>
            <a:ext cx="2011680" cy="914400"/>
          </a:xfrm>
          <a:prstGeom prst="rect">
            <a:avLst/>
          </a:prstGeom>
          <a:solidFill>
            <a:srgbClr val="024BAB"/>
          </a:solidFill>
          <a:ln w="19050">
            <a:solidFill>
              <a:srgbClr val="0F172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50876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72084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MongoDB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indexed · encrypted vault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675120" y="2743200"/>
            <a:ext cx="2011680" cy="914400"/>
          </a:xfrm>
          <a:prstGeom prst="rect">
            <a:avLst/>
          </a:prstGeom>
          <a:solidFill>
            <a:srgbClr val="128C7E"/>
          </a:solidFill>
          <a:ln w="19050">
            <a:solidFill>
              <a:srgbClr val="0F172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880360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72084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 &amp; push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OTP, alerts, documents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2468880" y="1828800"/>
            <a:ext cx="1097280" cy="54864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20" name="Shape 12"/>
          <p:cNvSpPr/>
          <p:nvPr/>
        </p:nvSpPr>
        <p:spPr>
          <a:xfrm flipV="1">
            <a:off x="2468880" y="2834640"/>
            <a:ext cx="1097280" cy="36576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21" name="Shape 13"/>
          <p:cNvSpPr/>
          <p:nvPr/>
        </p:nvSpPr>
        <p:spPr>
          <a:xfrm flipV="1">
            <a:off x="5577840" y="1828800"/>
            <a:ext cx="1097280" cy="54864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22" name="Shape 14"/>
          <p:cNvSpPr/>
          <p:nvPr/>
        </p:nvSpPr>
        <p:spPr>
          <a:xfrm>
            <a:off x="5577840" y="2834640"/>
            <a:ext cx="1097280" cy="36576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23" name="Text 15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4BAB"/>
                </a:solidFill>
              </a:rPr>
              <a:t>Horizontally scalable: add workers or servers as headcount grows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at 2,000 employees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3035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5" name="Image 0" descr="img/attendance-2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434840" cy="277177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120640" y="12801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1,881 attendance rows for a day load in 0.19 s (40 KB compressed)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Per-day counts for a whole month: 0.12 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ingest: 155 punches/s vs ~3/s needed at peak (about 47× headroom)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cron runs once, not per worker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 (2,000 employees)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8229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for 2,000 in seconds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233672" y="1261872"/>
            <a:ext cx="4434840" cy="27717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5" name="Image 0" descr="img/payroll-2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88720"/>
            <a:ext cx="4434840" cy="277177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60520" y="1188720"/>
            <a:ext cx="4434840" cy="2771775"/>
          </a:xfrm>
          <a:prstGeom prst="rect">
            <a:avLst/>
          </a:prstGeom>
          <a:ln w="19050">
            <a:solidFill>
              <a:srgbClr val="0F172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21208" y="1344168"/>
            <a:ext cx="329184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280160"/>
            <a:ext cx="32918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7200" y="13898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A731C"/>
                </a:solidFill>
              </a:rPr>
              <a:t>2.0 s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0848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full payroll run, 1,881 employees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28803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summary for this month: 9 ms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with all 1,881 rows ready in 2.7 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are safe: already-processed months are not duplicated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people using it at once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18872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0 errors in both runs · 60 concurrent users on heavy screens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growth and storage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21208" y="1344168"/>
            <a:ext cx="187452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8016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3898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4BAB"/>
                </a:solidFill>
              </a:rPr>
              <a:t>680k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848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attendance records per year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78608" y="1344168"/>
            <a:ext cx="187452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14600" y="128016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14600" y="13898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A731C"/>
                </a:solidFill>
              </a:rPr>
              <a:t>160 MB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20848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attendance data + indexes per year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36008" y="1344168"/>
            <a:ext cx="187452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28016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3898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4BAB"/>
                </a:solidFill>
              </a:rPr>
              <a:t>19 MB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20848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payroll per year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93408" y="1344168"/>
            <a:ext cx="187452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29400" y="128016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13898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48C"/>
                </a:solidFill>
              </a:rPr>
              <a:t>0.9 GB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20848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everything over 5 years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that an ordinary managed database handles it with room to spare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backups and archival of old years are straightforward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keep today's screens fast even as history grows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14400" y="1371600"/>
            <a:ext cx="640080" cy="640080"/>
          </a:xfrm>
          <a:prstGeom prst="ellipse">
            <a:avLst/>
          </a:prstGeom>
          <a:solidFill>
            <a:srgbClr val="024BA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Setup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Company, departments, shifts, rules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78608" y="1371600"/>
            <a:ext cx="640080" cy="640080"/>
          </a:xfrm>
          <a:prstGeom prst="ellipse">
            <a:avLst/>
          </a:prstGeom>
          <a:solidFill>
            <a:srgbClr val="024BA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7860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121408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import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121408" y="2606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Employees migrated in batches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42816" y="1371600"/>
            <a:ext cx="640080" cy="640080"/>
          </a:xfrm>
          <a:prstGeom prst="ellipse">
            <a:avLst/>
          </a:prstGeom>
          <a:solidFill>
            <a:srgbClr val="024BA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42816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785616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Devices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785616" y="2606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Biometric terminals connected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07024" y="1371600"/>
            <a:ext cx="640080" cy="640080"/>
          </a:xfrm>
          <a:prstGeom prst="ellipse">
            <a:avLst/>
          </a:prstGeom>
          <a:solidFill>
            <a:srgbClr val="024BAB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07024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449824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Training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49824" y="2606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HR, managers, employees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571232" y="1371600"/>
            <a:ext cx="640080" cy="640080"/>
          </a:xfrm>
          <a:prstGeom prst="ellipse">
            <a:avLst/>
          </a:prstGeom>
          <a:solidFill>
            <a:srgbClr val="FA731C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71232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114032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Go-live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14032" y="2606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Parallel run, then switch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4BAB"/>
                </a:solidFill>
              </a:rPr>
              <a:t>Dedicated onboarding support from the Pixelate Nest team throughout.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Let's get your team on NestHR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1783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+91 84069 12345 (WhatsApp)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320040" cy="320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728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support@pixelatenest.com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320040" cy="320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9728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www.pixelatenest.com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97280" y="3703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Kala Bhawan, Akharaghat Road, Muzaffarpur, Bihar 842001</a:t>
            </a:r>
            <a:endParaRPr lang="en-US" sz="18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stHR">
  <a:themeElements>
    <a:clrScheme name="NestHR">
      <a:dk1>
        <a:srgbClr val="0F172A"/>
      </a:dk1>
      <a:lt1>
        <a:srgbClr val="FFFFFF"/>
      </a:lt1>
      <a:dk2>
        <a:srgbClr val="024BAB"/>
      </a:dk2>
      <a:lt2>
        <a:srgbClr val="F3F6FC"/>
      </a:lt2>
      <a:accent1>
        <a:srgbClr val="024BAB"/>
      </a:accent1>
      <a:accent2>
        <a:srgbClr val="FA731C"/>
      </a:accent2>
      <a:accent3>
        <a:srgbClr val="00C48C"/>
      </a:accent3>
      <a:accent4>
        <a:srgbClr val="A855F7"/>
      </a:accent4>
      <a:accent5>
        <a:srgbClr val="EF4444"/>
      </a:accent5>
      <a:accent6>
        <a:srgbClr val="FFD60A"/>
      </a:accent6>
      <a:hlink>
        <a:srgbClr val="024BAB"/>
      </a:hlink>
      <a:folHlink>
        <a:srgbClr val="024BAB"/>
      </a:folHlink>
    </a:clrScheme>
    <a:fontScheme name="NestH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NestHR - HRMS for 2,000+ employees</dc:title>
  <dc:subject>PptxGenJS Presentation</dc:subject>
  <dc:creator>Pixelate Nest</dc:creator>
  <cp:lastModifiedBy>Pixelate Nest</cp:lastModifiedBy>
  <cp:revision>1</cp:revision>
  <dcterms:created xsi:type="dcterms:W3CDTF">2026-10-20T10:54:29Z</dcterms:created>
  <dcterms:modified xsi:type="dcterms:W3CDTF">2026-10-20T10:54:29Z</dcterms:modified>
</cp:coreProperties>
</file>